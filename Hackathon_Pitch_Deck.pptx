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3B82F6"/>
                </a:solidFill>
              </a:defRPr>
            </a:pPr>
            <a:r>
              <a:t>AI Smart City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D1D5DB"/>
                </a:solidFill>
              </a:defRPr>
            </a:pPr>
            <a:r>
              <a:t>Intelligent Urban Management &amp; Predictive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DC2626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1F2937"/>
                </a:solidFill>
              </a:defRPr>
            </a:pPr>
            <a:r>
              <a:t>Rapid Urbanization &amp; Inefficiency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Traffic congestion leads to immense time and fuel waste.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Waste collection schedules are static, leading to overflowing bins.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Citizens lack a centralized platform to report localized issues.</a:t>
            </a:r>
          </a:p>
          <a:p>
            <a:pPr>
              <a:spcBef>
                <a:spcPts val="1400"/>
              </a:spcBef>
              <a:defRPr sz="2400">
                <a:solidFill>
                  <a:srgbClr val="1F2937"/>
                </a:solidFill>
              </a:defRPr>
            </a:pPr>
            <a:r>
              <a:t>Data Silos in City Management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Departments (Traffic, Environment, Sanitation) operate independently.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Lack of predictive insights to proactively solve problems.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1F2937"/>
                </a:solidFill>
              </a:defRPr>
            </a:pPr>
            <a:r>
              <a:t>A Centralized, AI-Driven Platform</a:t>
            </a:r>
          </a:p>
          <a:p>
            <a:pPr>
              <a:spcBef>
                <a:spcPts val="1400"/>
              </a:spcBef>
              <a:defRPr sz="2400">
                <a:solidFill>
                  <a:srgbClr val="1F2937"/>
                </a:solidFill>
              </a:defRPr>
            </a:pPr>
            <a:r>
              <a:t>Real-Time Analytics Dashboard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Live monitoring of traffic, AQI, noise, and waste fill levels.</a:t>
            </a:r>
          </a:p>
          <a:p>
            <a:pPr>
              <a:spcBef>
                <a:spcPts val="1400"/>
              </a:spcBef>
              <a:defRPr sz="2400">
                <a:solidFill>
                  <a:srgbClr val="1F2937"/>
                </a:solidFill>
              </a:defRPr>
            </a:pPr>
            <a:r>
              <a:t>Machine Learning Predictions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Forecasting congestion 30 mins ahead and bin fill levels 5 hours ahead.</a:t>
            </a:r>
          </a:p>
          <a:p>
            <a:pPr>
              <a:spcBef>
                <a:spcPts val="1400"/>
              </a:spcBef>
              <a:defRPr sz="2400">
                <a:solidFill>
                  <a:srgbClr val="1F2937"/>
                </a:solidFill>
              </a:defRPr>
            </a:pPr>
            <a:r>
              <a:t>Interactive Citizen Portal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Empowering citizens to report issues and access a smart AI assistant.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B5CF6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1F2937"/>
                </a:solidFill>
              </a:defRPr>
            </a:pPr>
            <a:r>
              <a:t>🚦 Intelligent Traffic Management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Live Leaflet.js mapping with congestion tooltips.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Random Forest regression for highly accurate congestion forecasting.</a:t>
            </a:r>
          </a:p>
          <a:p>
            <a:pPr>
              <a:spcBef>
                <a:spcPts val="1400"/>
              </a:spcBef>
              <a:defRPr sz="2400">
                <a:solidFill>
                  <a:srgbClr val="1F2937"/>
                </a:solidFill>
              </a:defRPr>
            </a:pPr>
            <a:r>
              <a:t>♻️ Smart Waste Management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Linear regression to predict future bin fill percentages.</a:t>
            </a:r>
          </a:p>
          <a:p>
            <a:pPr>
              <a:spcBef>
                <a:spcPts val="1400"/>
              </a:spcBef>
              <a:defRPr sz="2400">
                <a:solidFill>
                  <a:srgbClr val="1F2937"/>
                </a:solidFill>
              </a:defRPr>
            </a:pPr>
            <a:r>
              <a:t>🗣️ AI Chatbot Assistant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Answers natural language queries regarding city data &amp; alerts.</a:t>
            </a:r>
          </a:p>
          <a:p>
            <a:pPr>
              <a:spcBef>
                <a:spcPts val="1400"/>
              </a:spcBef>
              <a:defRPr sz="2400">
                <a:solidFill>
                  <a:srgbClr val="1F2937"/>
                </a:solidFill>
              </a:defRPr>
            </a:pPr>
            <a:r>
              <a:t>📝 Automated Complaint Routing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Citizens report issues directly tied to specific city zones.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B82F6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1F2937"/>
                </a:solidFill>
              </a:defRPr>
            </a:pPr>
            <a:r>
              <a:t>Backend / API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Python, Flask, SQLite, SQLAlchemy</a:t>
            </a:r>
          </a:p>
          <a:p>
            <a:pPr>
              <a:spcBef>
                <a:spcPts val="1400"/>
              </a:spcBef>
              <a:defRPr sz="2400">
                <a:solidFill>
                  <a:srgbClr val="1F2937"/>
                </a:solidFill>
              </a:defRPr>
            </a:pPr>
            <a:r>
              <a:t>Machine Learning &amp; Data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Scikit-Learn (RandomForestRegressor, LinearRegression)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APScheduler for real-time IoT sensor simulation</a:t>
            </a:r>
          </a:p>
          <a:p>
            <a:pPr>
              <a:spcBef>
                <a:spcPts val="1400"/>
              </a:spcBef>
              <a:defRPr sz="2400">
                <a:solidFill>
                  <a:srgbClr val="1F2937"/>
                </a:solidFill>
              </a:defRPr>
            </a:pPr>
            <a:r>
              <a:t>Frontend Interface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Vanilla JavaScript (ES6+), Fetch API, HTML5/CSS3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Leaflet.js for interactive mapping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59E0B"/>
                </a:solidFill>
              </a:defRPr>
            </a:pPr>
            <a:r>
              <a:t>Future Scope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1F2937"/>
                </a:solidFill>
              </a:defRPr>
            </a:pPr>
            <a:r>
              <a:t>Infrastructure Upgrades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Migrate from SQLite to PostgreSQL for high concurrency.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Implement WebSockets (Socket.IO) to replace HTTP polling.</a:t>
            </a:r>
          </a:p>
          <a:p>
            <a:pPr>
              <a:spcBef>
                <a:spcPts val="1400"/>
              </a:spcBef>
              <a:defRPr sz="2400">
                <a:solidFill>
                  <a:srgbClr val="1F2937"/>
                </a:solidFill>
              </a:defRPr>
            </a:pPr>
            <a:r>
              <a:t>Advanced AI Enhancements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Deep Learning (LSTMs) for complex temporal traffic patterns.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Computer Vision integration for automated pothole detection via CCTVs.</a:t>
            </a:r>
          </a:p>
          <a:p>
            <a:pPr>
              <a:spcBef>
                <a:spcPts val="1400"/>
              </a:spcBef>
              <a:defRPr sz="2400">
                <a:solidFill>
                  <a:srgbClr val="1F2937"/>
                </a:solidFill>
              </a:defRPr>
            </a:pPr>
            <a:r>
              <a:t>Mobile App Integration</a:t>
            </a:r>
          </a:p>
          <a:p>
            <a:pPr lvl="1">
              <a:defRPr sz="2000">
                <a:solidFill>
                  <a:srgbClr val="4B5563"/>
                </a:solidFill>
              </a:defRPr>
            </a:pPr>
            <a:r>
              <a:t>Push notifications for critical city alerts and AQI drops.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3B82F6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D1D5DB"/>
                </a:solidFill>
              </a:defRPr>
            </a:pPr>
            <a:r>
              <a:t>Ready for Q&amp;A!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